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latin typeface="Microsoft YaHei"/>
              </a:rPr>
              <a:t>季度经营回顾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latin typeface="Microsoft YaHei"/>
              </a:rPr>
              <a:t>一、收入结构持续改善</a:t>
            </a:r>
          </a:p>
          <a:p>
            <a:r>
              <a:rPr sz="2000" b="0">
                <a:latin typeface="Microsoft YaHei"/>
              </a:rPr>
              <a:t>二、交付效率提升明显</a:t>
            </a:r>
          </a:p>
          <a:p>
            <a:r>
              <a:rPr sz="2000" b="0">
                <a:latin typeface="Microsoft YaHei"/>
              </a:rPr>
              <a:t>三、下季度重点：规模化复制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latin typeface="SimHei"/>
              </a:rPr>
              <a:t>黑体标题与宋体正文混排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latin typeface="SimSun"/>
              </a:rPr>
              <a:t>标题用黑体，正文用宋体，用于验证两种字体名都能映射到随包字体。</a:t>
            </a:r>
          </a:p>
        </p:txBody>
      </p:sp>
      <p:sp>
        <p:nvSpPr>
          <p:cNvPr id="4" name="Freeform 3"/>
          <p:cNvSpPr/>
          <p:nvPr/>
        </p:nvSpPr>
        <p:spPr>
          <a:xfrm>
            <a:off x="700000" y="4400000"/>
            <a:ext cx="2700000" cy="600000"/>
          </a:xfrm>
          <a:custGeom>
            <a:avLst/>
            <a:gdLst/>
            <a:ahLst/>
            <a:cxnLst/>
            <a:rect l="l" t="t" r="r" b="b"/>
            <a:pathLst>
              <a:path w="2700000" h="600000">
                <a:moveTo>
                  <a:pt x="300000" y="0"/>
                </a:moveTo>
                <a:lnTo>
                  <a:pt x="2700000" y="0"/>
                </a:lnTo>
                <a:lnTo>
                  <a:pt x="2400000" y="600000"/>
                </a:lnTo>
                <a:lnTo>
                  <a:pt x="0" y="600000"/>
                </a:lnTo>
                <a:close/>
              </a:path>
            </a:pathLst>
          </a:custGeom>
          <a:solidFill>
            <a:srgbClr val="1B4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